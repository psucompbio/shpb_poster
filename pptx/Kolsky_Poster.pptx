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2926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jp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00" cy="29260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093976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20040"/>
            <a:ext cx="20939760" cy="7315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93192"/>
            <a:ext cx="20939760" cy="36576"/>
          </a:xfrm>
          <a:prstGeom prst="rect">
            <a:avLst/>
          </a:prstGeom>
          <a:solidFill>
            <a:srgbClr val="D49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227832"/>
            <a:ext cx="20939760" cy="36576"/>
          </a:xfrm>
          <a:prstGeom prst="rect">
            <a:avLst/>
          </a:prstGeom>
          <a:solidFill>
            <a:srgbClr val="D49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3264408"/>
            <a:ext cx="20939760" cy="7315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SULogo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3822191" cy="1188720"/>
          </a:xfrm>
          <a:prstGeom prst="rect">
            <a:avLst/>
          </a:prstGeom>
        </p:spPr>
      </p:pic>
      <p:pic>
        <p:nvPicPr>
          <p:cNvPr id="9" name="Picture 8" descr="LANL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0157" y="1280160"/>
            <a:ext cx="4141043" cy="1051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19471" y="612648"/>
            <a:ext cx="11604926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0B2545"/>
                </a:solidFill>
                <a:latin typeface="Arial"/>
              </a:rPr>
              <a:t>High-Throughput Dynamic Material Characterization</a:t>
            </a:r>
          </a:p>
          <a:p>
            <a:pPr algn="ctr">
              <a:spcAft>
                <a:spcPts val="900"/>
              </a:spcAft>
            </a:pPr>
            <a:r>
              <a:rPr sz="1550" b="1">
                <a:solidFill>
                  <a:srgbClr val="1F4E8C"/>
                </a:solidFill>
                <a:latin typeface="Arial"/>
              </a:rPr>
              <a:t>Synergistic Experimental &amp; Digital Twin Framework for Rate-Dependent Model Discovery</a:t>
            </a:r>
          </a:p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B2545"/>
                </a:solidFill>
                <a:latin typeface="Arial"/>
              </a:rPr>
              <a:t>Zachary Salas¹    </a:t>
            </a:r>
            <a:r>
              <a:rPr sz="1300">
                <a:solidFill>
                  <a:srgbClr val="D49B28"/>
                </a:solidFill>
                <a:latin typeface="Arial"/>
              </a:rPr>
              <a:t>|    </a:t>
            </a:r>
            <a:r>
              <a:rPr sz="1300" b="1">
                <a:solidFill>
                  <a:srgbClr val="0B2545"/>
                </a:solidFill>
                <a:latin typeface="Arial"/>
              </a:rPr>
              <a:t>Jeremy Croom¹    </a:t>
            </a:r>
            <a:r>
              <a:rPr sz="1300">
                <a:solidFill>
                  <a:srgbClr val="D49B28"/>
                </a:solidFill>
                <a:latin typeface="Arial"/>
              </a:rPr>
              <a:t>|    </a:t>
            </a:r>
            <a:r>
              <a:rPr sz="1300" b="1">
                <a:solidFill>
                  <a:srgbClr val="0B2545"/>
                </a:solidFill>
                <a:latin typeface="Arial"/>
              </a:rPr>
              <a:t>Reuben H. Kraft, Ph.D.¹</a:t>
            </a:r>
          </a:p>
          <a:p>
            <a:pPr algn="ctr"/>
            <a:r>
              <a:rPr sz="1050">
                <a:solidFill>
                  <a:srgbClr val="475569"/>
                </a:solidFill>
                <a:latin typeface="Arial"/>
              </a:rPr>
              <a:t>¹Department of Mechanical Engineering, The Pennsylvania State University, University Park, 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20440"/>
            <a:ext cx="10287000" cy="7452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520440"/>
            <a:ext cx="10287000" cy="5486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069080"/>
            <a:ext cx="10287000" cy="36576"/>
          </a:xfrm>
          <a:prstGeom prst="rect">
            <a:avLst/>
          </a:prstGeom>
          <a:solidFill>
            <a:srgbClr val="D49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772668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Miniature Kolsky Bar Apparatus (Ø 3.17 mm)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3621024"/>
            <a:ext cx="2011680" cy="347472"/>
          </a:xfrm>
          <a:prstGeom prst="round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621024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EXPERIMENTAL APPARATUS</a:t>
            </a:r>
          </a:p>
        </p:txBody>
      </p:sp>
      <p:pic>
        <p:nvPicPr>
          <p:cNvPr id="17" name="Picture 16" descr="PSU_MiniKolskyBar_sys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206240"/>
            <a:ext cx="5257800" cy="31089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99048" y="4206240"/>
            <a:ext cx="4480560" cy="310896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9048" y="4206240"/>
            <a:ext cx="4480560" cy="347472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8" y="4242816"/>
            <a:ext cx="4480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rial"/>
              </a:rPr>
              <a:t>HARDWARE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4608576"/>
            <a:ext cx="4224528" cy="2606040"/>
          </a:xfrm>
          <a:prstGeom prst="rect">
            <a:avLst/>
          </a:prstGeom>
          <a:noFill/>
        </p:spPr>
        <p:txBody>
          <a:bodyPr wrap="none" tIns="18288" bIns="18288">
            <a:spAutoFit/>
          </a:bodyPr>
          <a:lstStyle/>
          <a:p>
            <a:pPr>
              <a:spcAft>
                <a:spcPts val="320"/>
              </a:spcAft>
            </a:pPr>
            <a:r>
              <a:rPr sz="880" b="1">
                <a:solidFill>
                  <a:srgbClr val="0B2545"/>
                </a:solidFill>
                <a:latin typeface="Arial"/>
              </a:rPr>
              <a:t>Bar Material:   </a:t>
            </a:r>
            <a:r>
              <a:rPr sz="880">
                <a:solidFill>
                  <a:srgbClr val="0F172A"/>
                </a:solidFill>
                <a:latin typeface="Arial"/>
              </a:rPr>
              <a:t>C350 Maraging Steel</a:t>
            </a:r>
          </a:p>
          <a:p>
            <a:pPr>
              <a:spcAft>
                <a:spcPts val="320"/>
              </a:spcAft>
            </a:pPr>
            <a:r>
              <a:rPr sz="880" b="1">
                <a:solidFill>
                  <a:srgbClr val="0B2545"/>
                </a:solidFill>
                <a:latin typeface="Arial"/>
              </a:rPr>
              <a:t>Bar Diameter:   </a:t>
            </a:r>
            <a:r>
              <a:rPr sz="880">
                <a:solidFill>
                  <a:srgbClr val="0F172A"/>
                </a:solidFill>
                <a:latin typeface="Arial"/>
              </a:rPr>
              <a:t>Ø 3.17 mm (1/8″ OD)</a:t>
            </a:r>
          </a:p>
          <a:p>
            <a:pPr>
              <a:spcAft>
                <a:spcPts val="320"/>
              </a:spcAft>
            </a:pPr>
            <a:r>
              <a:rPr sz="880" b="1">
                <a:solidFill>
                  <a:srgbClr val="0B2545"/>
                </a:solidFill>
                <a:latin typeface="Arial"/>
              </a:rPr>
              <a:t>Bar Lengths:    </a:t>
            </a:r>
            <a:r>
              <a:rPr sz="880">
                <a:solidFill>
                  <a:srgbClr val="0F172A"/>
                </a:solidFill>
                <a:latin typeface="Arial"/>
              </a:rPr>
              <a:t>Inc. 1.0 m, Trans. 1.0 m</a:t>
            </a:r>
          </a:p>
          <a:p>
            <a:pPr>
              <a:spcAft>
                <a:spcPts val="320"/>
              </a:spcAft>
            </a:pPr>
            <a:r>
              <a:rPr sz="880" b="1">
                <a:solidFill>
                  <a:srgbClr val="0B2545"/>
                </a:solidFill>
                <a:latin typeface="Arial"/>
              </a:rPr>
              <a:t>Wave Speed:     </a:t>
            </a:r>
            <a:r>
              <a:rPr sz="880">
                <a:solidFill>
                  <a:srgbClr val="0F172A"/>
                </a:solidFill>
                <a:latin typeface="Arial"/>
              </a:rPr>
              <a:t>C₀ ≈ 4,960 m/s</a:t>
            </a:r>
          </a:p>
          <a:p>
            <a:pPr>
              <a:spcAft>
                <a:spcPts val="320"/>
              </a:spcAft>
            </a:pPr>
            <a:r>
              <a:rPr sz="880" b="1">
                <a:solidFill>
                  <a:srgbClr val="0B2545"/>
                </a:solidFill>
                <a:latin typeface="Arial"/>
              </a:rPr>
              <a:t>Striker Range:  </a:t>
            </a:r>
            <a:r>
              <a:rPr sz="880">
                <a:solidFill>
                  <a:srgbClr val="0F172A"/>
                </a:solidFill>
                <a:latin typeface="Arial"/>
              </a:rPr>
              <a:t>Lₛ = 200 mm, V₀ ≤ 30 m/s</a:t>
            </a:r>
          </a:p>
          <a:p>
            <a:pPr>
              <a:spcAft>
                <a:spcPts val="320"/>
              </a:spcAft>
            </a:pPr>
            <a:r>
              <a:rPr sz="880" b="1">
                <a:solidFill>
                  <a:srgbClr val="0B2545"/>
                </a:solidFill>
                <a:latin typeface="Arial"/>
              </a:rPr>
              <a:t>Pulse Duration: </a:t>
            </a:r>
            <a:r>
              <a:rPr sz="880">
                <a:solidFill>
                  <a:srgbClr val="0F172A"/>
                </a:solidFill>
                <a:latin typeface="Arial"/>
              </a:rPr>
              <a:t>Tₚ ≈ 78 μs</a:t>
            </a:r>
          </a:p>
          <a:p>
            <a:pPr>
              <a:spcAft>
                <a:spcPts val="320"/>
              </a:spcAft>
            </a:pPr>
            <a:r>
              <a:rPr sz="880" b="1">
                <a:solidFill>
                  <a:srgbClr val="0B2545"/>
                </a:solidFill>
                <a:latin typeface="Arial"/>
              </a:rPr>
              <a:t>Diagnostics:    </a:t>
            </a:r>
            <a:r>
              <a:rPr sz="880">
                <a:solidFill>
                  <a:srgbClr val="0F172A"/>
                </a:solidFill>
                <a:latin typeface="Arial"/>
              </a:rPr>
              <a:t>Semiconductor (10 MHz DAQ)</a:t>
            </a:r>
          </a:p>
          <a:p>
            <a:pPr>
              <a:spcAft>
                <a:spcPts val="320"/>
              </a:spcAft>
            </a:pPr>
            <a:r>
              <a:rPr sz="880" b="1">
                <a:solidFill>
                  <a:srgbClr val="0B2545"/>
                </a:solidFill>
                <a:latin typeface="Arial"/>
              </a:rPr>
              <a:t>Strain Rate:    </a:t>
            </a:r>
            <a:r>
              <a:rPr sz="880">
                <a:solidFill>
                  <a:srgbClr val="0F172A"/>
                </a:solidFill>
                <a:latin typeface="Arial"/>
              </a:rPr>
              <a:t>ε̇_max ~ 1.2 × 10⁴ s⁻¹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7452360"/>
            <a:ext cx="9884664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40" b="1">
                <a:solidFill>
                  <a:srgbClr val="D49B28"/>
                </a:solidFill>
                <a:latin typeface="Arial"/>
              </a:rPr>
              <a:t>▪ </a:t>
            </a:r>
            <a:r>
              <a:rPr sz="1040" b="1">
                <a:solidFill>
                  <a:srgbClr val="0B2545"/>
                </a:solidFill>
                <a:latin typeface="Arial"/>
              </a:rPr>
              <a:t>Ultra-Small Diameter Architecture: </a:t>
            </a:r>
            <a:r>
              <a:rPr sz="1040">
                <a:solidFill>
                  <a:srgbClr val="0F172A"/>
                </a:solidFill>
                <a:latin typeface="Arial"/>
              </a:rPr>
              <a:t>Precision Ø 3.17 mm C350 maraging steel bar system specifically engineered for sub-scale testing of advanced composites, ductile metals (OFHC copper), and transparent polymers (PMMA).</a:t>
            </a:r>
          </a:p>
          <a:p>
            <a:pPr algn="l">
              <a:spcAft>
                <a:spcPts val="600"/>
              </a:spcAft>
            </a:pPr>
            <a:r>
              <a:rPr sz="1240" b="1">
                <a:solidFill>
                  <a:srgbClr val="D49B28"/>
                </a:solidFill>
                <a:latin typeface="Arial"/>
              </a:rPr>
              <a:t>▪ </a:t>
            </a:r>
            <a:r>
              <a:rPr sz="1040" b="1">
                <a:solidFill>
                  <a:srgbClr val="0B2545"/>
                </a:solidFill>
                <a:latin typeface="Arial"/>
              </a:rPr>
              <a:t>Extreme Dynamic Strain Rate Regime: </a:t>
            </a:r>
            <a:r>
              <a:rPr sz="1040">
                <a:solidFill>
                  <a:srgbClr val="0F172A"/>
                </a:solidFill>
                <a:latin typeface="Arial"/>
              </a:rPr>
              <a:t>Achieves dynamic strain rates from ε̇ ~ 10³ to 1.2 × 10⁴ s⁻¹ under strictly verified 1D wave propagation with minimal Pochhammer-Chree radial dispersion.</a:t>
            </a:r>
          </a:p>
          <a:p>
            <a:pPr algn="l">
              <a:spcAft>
                <a:spcPts val="600"/>
              </a:spcAft>
            </a:pPr>
            <a:r>
              <a:rPr sz="1240" b="1">
                <a:solidFill>
                  <a:srgbClr val="D49B28"/>
                </a:solidFill>
                <a:latin typeface="Arial"/>
              </a:rPr>
              <a:t>▪ </a:t>
            </a:r>
            <a:r>
              <a:rPr sz="1040" b="1">
                <a:solidFill>
                  <a:srgbClr val="0B2545"/>
                </a:solidFill>
                <a:latin typeface="Arial"/>
              </a:rPr>
              <a:t>High-Frequency Diagnostics: </a:t>
            </a:r>
            <a:r>
              <a:rPr sz="1040">
                <a:solidFill>
                  <a:srgbClr val="0F172A"/>
                </a:solidFill>
                <a:latin typeface="Arial"/>
              </a:rPr>
              <a:t>Instrumented with high-bandwidth semiconductor strain gauges at bar midpoints; isolates incident (σᵢ), reflected (σᵣ), and transmitted (σₜ) stress waves digitized at 10 MHz.</a:t>
            </a:r>
          </a:p>
          <a:p>
            <a:pPr algn="l">
              <a:spcAft>
                <a:spcPts val="600"/>
              </a:spcAft>
            </a:pPr>
            <a:r>
              <a:rPr sz="1240" b="1">
                <a:solidFill>
                  <a:srgbClr val="D49B28"/>
                </a:solidFill>
                <a:latin typeface="Arial"/>
              </a:rPr>
              <a:t>▪ </a:t>
            </a:r>
            <a:r>
              <a:rPr sz="1040" b="1">
                <a:solidFill>
                  <a:srgbClr val="0B2545"/>
                </a:solidFill>
                <a:latin typeface="Arial"/>
              </a:rPr>
              <a:t>High-Throughput Testing Protocol: </a:t>
            </a:r>
            <a:r>
              <a:rPr sz="1040">
                <a:solidFill>
                  <a:srgbClr val="0F172A"/>
                </a:solidFill>
                <a:latin typeface="Arial"/>
              </a:rPr>
              <a:t>Modular alignment guides and precision collets enable rapid shot cycles (&gt;10 shots/hr), providing dense empirical datasets for statistical uncertainty bounds.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155680" y="3520440"/>
            <a:ext cx="10287000" cy="7452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55680" y="3520440"/>
            <a:ext cx="10287000" cy="5486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55680" y="4069080"/>
            <a:ext cx="10287000" cy="36576"/>
          </a:xfrm>
          <a:prstGeom prst="rect">
            <a:avLst/>
          </a:prstGeom>
          <a:solidFill>
            <a:srgbClr val="D49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84280" y="3566160"/>
            <a:ext cx="772668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Abaqus/Explicit Digital Twin Modeling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48120" y="3621024"/>
            <a:ext cx="2011680" cy="347472"/>
          </a:xfrm>
          <a:prstGeom prst="round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48120" y="3621024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COMPUTATIONAL TWIN</a:t>
            </a:r>
          </a:p>
        </p:txBody>
      </p:sp>
      <p:pic>
        <p:nvPicPr>
          <p:cNvPr id="29" name="Picture 28" descr="digital_twin_full_and_zo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56848" y="4206240"/>
            <a:ext cx="9884664" cy="21488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356848" y="6428232"/>
            <a:ext cx="9884664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80" b="1">
                <a:solidFill>
                  <a:srgbClr val="D49B28"/>
                </a:solidFill>
                <a:latin typeface="Arial"/>
              </a:rPr>
              <a:t>▪ </a:t>
            </a:r>
            <a:r>
              <a:rPr sz="980" b="1">
                <a:solidFill>
                  <a:srgbClr val="0B2545"/>
                </a:solidFill>
                <a:latin typeface="Arial"/>
              </a:rPr>
              <a:t>Multi-Symmetry FE Formulations: </a:t>
            </a:r>
            <a:r>
              <a:rPr sz="980">
                <a:solidFill>
                  <a:srgbClr val="0F172A"/>
                </a:solidFill>
                <a:latin typeface="Arial"/>
              </a:rPr>
              <a:t>3D quarter- and full-symmetry models constructed in Abaqus/Explicit with C3D8R hex elements for dispersive wave propagation, striker impact, and boundary condition verification.</a:t>
            </a:r>
          </a:p>
          <a:p>
            <a:pPr algn="l">
              <a:spcAft>
                <a:spcPts val="400"/>
              </a:spcAft>
            </a:pPr>
            <a:r>
              <a:rPr sz="1180" b="1">
                <a:solidFill>
                  <a:srgbClr val="D49B28"/>
                </a:solidFill>
                <a:latin typeface="Arial"/>
              </a:rPr>
              <a:t>▪ </a:t>
            </a:r>
            <a:r>
              <a:rPr sz="980" b="1">
                <a:solidFill>
                  <a:srgbClr val="0B2545"/>
                </a:solidFill>
                <a:latin typeface="Arial"/>
              </a:rPr>
              <a:t>Pre-Shot Waveform Optimization: </a:t>
            </a:r>
            <a:r>
              <a:rPr sz="980">
                <a:solidFill>
                  <a:srgbClr val="0F172A"/>
                </a:solidFill>
                <a:latin typeface="Arial"/>
              </a:rPr>
              <a:t>Virtual striker velocity and boundary impedance sweeps eliminate trial-and-error testing and maximize constant-strain-rate deformation duration.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356848" y="7772400"/>
            <a:ext cx="9884664" cy="306324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356848" y="7772400"/>
            <a:ext cx="9884664" cy="329184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94008" y="7808976"/>
            <a:ext cx="78729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Arial"/>
              </a:rPr>
              <a:t>INNOVATIVE PULSE SHAPING FOR TAILORED RESPONSE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366993" y="7818120"/>
            <a:ext cx="1783080" cy="237744"/>
          </a:xfrm>
          <a:prstGeom prst="roundRect">
            <a:avLst/>
          </a:prstGeom>
          <a:solidFill>
            <a:srgbClr val="D49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366993" y="7808976"/>
            <a:ext cx="1783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80" b="1">
                <a:solidFill>
                  <a:srgbClr val="0B2545"/>
                </a:solidFill>
                <a:latin typeface="Arial"/>
              </a:rPr>
              <a:t>TAILORED WAVEFORMS</a:t>
            </a:r>
          </a:p>
        </p:txBody>
      </p:sp>
      <p:pic>
        <p:nvPicPr>
          <p:cNvPr id="36" name="Picture 35" descr="pulse_shaping_tailored_respon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4008" y="8193024"/>
            <a:ext cx="4480560" cy="2514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6066008" y="8229600"/>
            <a:ext cx="5084064" cy="2514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D49B28"/>
                </a:solidFill>
                <a:latin typeface="Arial"/>
              </a:rPr>
              <a:t>▪ </a:t>
            </a:r>
            <a:r>
              <a:rPr sz="950" b="1">
                <a:solidFill>
                  <a:srgbClr val="0B2545"/>
                </a:solidFill>
                <a:latin typeface="Arial"/>
              </a:rPr>
              <a:t>AM Micro-Architected Shapers: </a:t>
            </a:r>
            <a:r>
              <a:rPr sz="950">
                <a:solidFill>
                  <a:srgbClr val="0F172A"/>
                </a:solidFill>
                <a:latin typeface="Arial"/>
              </a:rPr>
              <a:t>Additively manufactured micro-lattices (nTopology/Abaqus) engineered to eliminate high-frequency wave dispersion and initial stress spikes.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D49B28"/>
                </a:solidFill>
                <a:latin typeface="Arial"/>
              </a:rPr>
              <a:t>▪ </a:t>
            </a:r>
            <a:r>
              <a:rPr sz="950" b="1">
                <a:solidFill>
                  <a:srgbClr val="0B2545"/>
                </a:solidFill>
                <a:latin typeface="Arial"/>
              </a:rPr>
              <a:t>Constant Strain-Rate Control: </a:t>
            </a:r>
            <a:r>
              <a:rPr sz="950">
                <a:solidFill>
                  <a:srgbClr val="0F172A"/>
                </a:solidFill>
                <a:latin typeface="Arial"/>
              </a:rPr>
              <a:t>Programmable rise times dynamically tailor the incident pulse to ensure dynamic equilibrium and steady ε̇ deformation across soft and hard materials.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11137392"/>
            <a:ext cx="2093976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11137392"/>
            <a:ext cx="109728" cy="1188720"/>
          </a:xfrm>
          <a:prstGeom prst="rect">
            <a:avLst/>
          </a:prstGeom>
          <a:solidFill>
            <a:srgbClr val="D49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2960" y="11274552"/>
            <a:ext cx="4617720" cy="91440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11365992"/>
            <a:ext cx="434340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1. Virtual Pulse Shaping</a:t>
            </a:r>
          </a:p>
          <a:p>
            <a:pPr algn="ctr"/>
            <a:r>
              <a:rPr sz="900">
                <a:solidFill>
                  <a:srgbClr val="FFF9E6"/>
                </a:solidFill>
                <a:latin typeface="Arial"/>
              </a:rPr>
              <a:t>Abaqus sweeps shaper geometry &amp; velocity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1150315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D49B28"/>
                </a:solidFill>
                <a:latin typeface="Arial"/>
              </a:rPr>
              <a:t>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97880" y="11274552"/>
            <a:ext cx="4617720" cy="914400"/>
          </a:xfrm>
          <a:prstGeom prst="round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1365992"/>
            <a:ext cx="434340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2. Specimen &amp; Shaper Prep</a:t>
            </a:r>
          </a:p>
          <a:p>
            <a:pPr algn="ctr"/>
            <a:r>
              <a:rPr sz="900">
                <a:solidFill>
                  <a:srgbClr val="F0F5FA"/>
                </a:solidFill>
                <a:latin typeface="Arial"/>
              </a:rPr>
              <a:t>Wire-EDM precision fabrication &amp; alignment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1150315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D49B28"/>
                </a:solidFill>
                <a:latin typeface="Arial"/>
              </a:rPr>
              <a:t>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0" y="11274552"/>
            <a:ext cx="4617720" cy="91440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109960" y="11365992"/>
            <a:ext cx="434340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3. Dynamic Mini-SHPB Run</a:t>
            </a:r>
          </a:p>
          <a:p>
            <a:pPr algn="ctr"/>
            <a:r>
              <a:rPr sz="900">
                <a:solidFill>
                  <a:srgbClr val="FFF9E6"/>
                </a:solidFill>
                <a:latin typeface="Arial"/>
              </a:rPr>
              <a:t>10 MHz strain acquisition + Nova S20 video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590520" y="1150315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D49B28"/>
                </a:solidFill>
                <a:latin typeface="Arial"/>
              </a:rPr>
              <a:t>▶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6047720" y="11274552"/>
            <a:ext cx="4617720" cy="914400"/>
          </a:xfrm>
          <a:prstGeom prst="round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184880" y="11365992"/>
            <a:ext cx="434340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4. Model Calibration &amp; Discovery</a:t>
            </a:r>
          </a:p>
          <a:p>
            <a:pPr algn="ctr"/>
            <a:r>
              <a:rPr sz="900">
                <a:solidFill>
                  <a:srgbClr val="F0F5FA"/>
                </a:solidFill>
                <a:latin typeface="Arial"/>
              </a:rPr>
              <a:t>Extract σ-ε curves &amp; refine digital twin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12481560"/>
            <a:ext cx="10287000" cy="7680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" y="12481560"/>
            <a:ext cx="10287000" cy="5486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" y="13030200"/>
            <a:ext cx="10287000" cy="36576"/>
          </a:xfrm>
          <a:prstGeom prst="rect">
            <a:avLst/>
          </a:prstGeom>
          <a:solidFill>
            <a:srgbClr val="D49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12527280"/>
            <a:ext cx="772668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Dynamic Wave Alignment &amp; Validation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95360" y="12582144"/>
            <a:ext cx="2011680" cy="347472"/>
          </a:xfrm>
          <a:prstGeom prst="round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0" y="12582144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WAVE PROPAGATION</a:t>
            </a:r>
          </a:p>
        </p:txBody>
      </p:sp>
      <p:pic>
        <p:nvPicPr>
          <p:cNvPr id="57" name="Picture 56" descr="incidentcom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13167360"/>
            <a:ext cx="4892040" cy="3017520"/>
          </a:xfrm>
          <a:prstGeom prst="rect">
            <a:avLst/>
          </a:prstGeom>
        </p:spPr>
      </p:pic>
      <p:pic>
        <p:nvPicPr>
          <p:cNvPr id="58" name="Picture 57" descr="transmissioncom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6712" y="13167360"/>
            <a:ext cx="4892040" cy="30175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04088" y="16322040"/>
            <a:ext cx="9884664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220" b="1">
                <a:solidFill>
                  <a:srgbClr val="D49B28"/>
                </a:solidFill>
                <a:latin typeface="Arial"/>
              </a:rPr>
              <a:t>▪ </a:t>
            </a:r>
            <a:r>
              <a:rPr sz="1019" b="1">
                <a:solidFill>
                  <a:srgbClr val="0B2545"/>
                </a:solidFill>
                <a:latin typeface="Arial"/>
              </a:rPr>
              <a:t>Dispersion-Corrected Voltage Signals: </a:t>
            </a:r>
            <a:r>
              <a:rPr sz="1019">
                <a:solidFill>
                  <a:srgbClr val="0F172A"/>
                </a:solidFill>
                <a:latin typeface="Arial"/>
              </a:rPr>
              <a:t>Incident and transmitted pulses captured at 10 MHz sampling frequency; wave profiles time-shifted to specimen contact interface.</a:t>
            </a:r>
          </a:p>
          <a:p>
            <a:pPr algn="l">
              <a:spcAft>
                <a:spcPts val="550"/>
              </a:spcAft>
            </a:pPr>
            <a:r>
              <a:rPr sz="1220" b="1">
                <a:solidFill>
                  <a:srgbClr val="D49B28"/>
                </a:solidFill>
                <a:latin typeface="Arial"/>
              </a:rPr>
              <a:t>▪ </a:t>
            </a:r>
            <a:r>
              <a:rPr sz="1019" b="1">
                <a:solidFill>
                  <a:srgbClr val="0B2545"/>
                </a:solidFill>
                <a:latin typeface="Arial"/>
              </a:rPr>
              <a:t>Digital Twin Predictive Accuracy: </a:t>
            </a:r>
            <a:r>
              <a:rPr sz="1019">
                <a:solidFill>
                  <a:srgbClr val="0F172A"/>
                </a:solidFill>
                <a:latin typeface="Arial"/>
              </a:rPr>
              <a:t>Tight overlay between finite element simulation predictions and experimental bridge voltages across the primary pulse duration.</a:t>
            </a:r>
          </a:p>
          <a:p>
            <a:pPr algn="l">
              <a:spcAft>
                <a:spcPts val="550"/>
              </a:spcAft>
            </a:pPr>
            <a:r>
              <a:rPr sz="1220" b="1">
                <a:solidFill>
                  <a:srgbClr val="D49B28"/>
                </a:solidFill>
                <a:latin typeface="Arial"/>
              </a:rPr>
              <a:t>▪ </a:t>
            </a:r>
            <a:r>
              <a:rPr sz="1019" b="1">
                <a:solidFill>
                  <a:srgbClr val="0B2545"/>
                </a:solidFill>
                <a:latin typeface="Arial"/>
              </a:rPr>
              <a:t>Dynamic Force Equilibrium: </a:t>
            </a:r>
            <a:r>
              <a:rPr sz="1019">
                <a:solidFill>
                  <a:srgbClr val="0F172A"/>
                </a:solidFill>
                <a:latin typeface="Arial"/>
              </a:rPr>
              <a:t>Verified across incident and transmission bar platens (P₁(t) ≈ P₂(t)), ensuring homogeneous stress distribution throughout deformation.</a:t>
            </a:r>
          </a:p>
          <a:p>
            <a:pPr algn="l">
              <a:spcAft>
                <a:spcPts val="550"/>
              </a:spcAft>
            </a:pPr>
            <a:r>
              <a:rPr sz="1220" b="1">
                <a:solidFill>
                  <a:srgbClr val="D49B28"/>
                </a:solidFill>
                <a:latin typeface="Arial"/>
              </a:rPr>
              <a:t>▪ </a:t>
            </a:r>
            <a:r>
              <a:rPr sz="1019" b="1">
                <a:solidFill>
                  <a:srgbClr val="0B2545"/>
                </a:solidFill>
                <a:latin typeface="Arial"/>
              </a:rPr>
              <a:t>Model Refinement Feedback: </a:t>
            </a:r>
            <a:r>
              <a:rPr sz="1019">
                <a:solidFill>
                  <a:srgbClr val="0F172A"/>
                </a:solidFill>
                <a:latin typeface="Arial"/>
              </a:rPr>
              <a:t>Waveform discrepancies directly guide the identification of rate-dependent strain hardening and thermal softening parameters.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155680" y="12481560"/>
            <a:ext cx="10287000" cy="7680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155680" y="12481560"/>
            <a:ext cx="10287000" cy="5486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155680" y="13030200"/>
            <a:ext cx="10287000" cy="36576"/>
          </a:xfrm>
          <a:prstGeom prst="rect">
            <a:avLst/>
          </a:prstGeom>
          <a:solidFill>
            <a:srgbClr val="D49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384280" y="12527280"/>
            <a:ext cx="772668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Photron FASTCAM Nova S20 High-Speed Video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9248120" y="12582144"/>
            <a:ext cx="2011680" cy="347472"/>
          </a:xfrm>
          <a:prstGeom prst="round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248120" y="12582144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OPTICAL DIAGNOSTICS</a:t>
            </a:r>
          </a:p>
        </p:txBody>
      </p:sp>
      <p:pic>
        <p:nvPicPr>
          <p:cNvPr id="66" name="Picture 65" descr="camera_setu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56848" y="13167360"/>
            <a:ext cx="3291840" cy="196596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4767560" y="13121640"/>
            <a:ext cx="6473952" cy="2011680"/>
          </a:xfrm>
          <a:prstGeom prst="rect">
            <a:avLst/>
          </a:prstGeom>
          <a:noFill/>
        </p:spPr>
        <p:txBody>
          <a:bodyPr wrap="square" tIns="0" lIns="4572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B2545"/>
                </a:solidFill>
                <a:latin typeface="Arial"/>
              </a:rPr>
              <a:t>Optical Configuration &amp; Sync: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F172A"/>
                </a:solidFill>
                <a:latin typeface="Arial"/>
              </a:rPr>
              <a:t>Coupled with macro-telephoto optics and high-intensity LED matrix illumination, triggered synchronously with the incident strain bridge.</a:t>
            </a:r>
          </a:p>
          <a:p>
            <a:pPr>
              <a:spcAft>
                <a:spcPts val="250"/>
              </a:spcAft>
            </a:pPr>
            <a:r>
              <a:rPr sz="1000" b="1">
                <a:solidFill>
                  <a:srgbClr val="D49B28"/>
                </a:solidFill>
              </a:rPr>
              <a:t>▪ </a:t>
            </a:r>
            <a:r>
              <a:rPr sz="940" b="1">
                <a:solidFill>
                  <a:srgbClr val="0B2545"/>
                </a:solidFill>
              </a:rPr>
              <a:t>Framing Rates: </a:t>
            </a:r>
            <a:r>
              <a:rPr sz="940">
                <a:solidFill>
                  <a:srgbClr val="0F172A"/>
                </a:solidFill>
              </a:rPr>
              <a:t>100,000 to 200,000 fps with sub-μs exposure to freeze dynamic wave motion.</a:t>
            </a:r>
          </a:p>
          <a:p>
            <a:pPr>
              <a:spcAft>
                <a:spcPts val="250"/>
              </a:spcAft>
            </a:pPr>
            <a:r>
              <a:rPr sz="1000" b="1">
                <a:solidFill>
                  <a:srgbClr val="D49B28"/>
                </a:solidFill>
              </a:rPr>
              <a:t>▪ </a:t>
            </a:r>
            <a:r>
              <a:rPr sz="940" b="1">
                <a:solidFill>
                  <a:srgbClr val="0B2545"/>
                </a:solidFill>
              </a:rPr>
              <a:t>Alignment Verification: </a:t>
            </a:r>
            <a:r>
              <a:rPr sz="940">
                <a:solidFill>
                  <a:srgbClr val="0F172A"/>
                </a:solidFill>
              </a:rPr>
              <a:t>Real-time visualization guarantees coaxial platen impact without bar bending.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356848" y="15224760"/>
            <a:ext cx="9884664" cy="224028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356848" y="15261336"/>
            <a:ext cx="9884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1">
                <a:solidFill>
                  <a:srgbClr val="1F4E8C"/>
                </a:solidFill>
                <a:latin typeface="Arial"/>
              </a:rPr>
              <a:t>High-Speed Dynamic Compression Sequence (ε̇ ~ 4000 s⁻¹ OFHC Copper on Ø 3.17 mm Bars)</a:t>
            </a:r>
          </a:p>
        </p:txBody>
      </p:sp>
      <p:pic>
        <p:nvPicPr>
          <p:cNvPr id="70" name="Picture 69" descr="copper_f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80292" y="15572232"/>
            <a:ext cx="1828800" cy="137160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1480292" y="16962120"/>
            <a:ext cx="182880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/>
            <a:r>
              <a:rPr sz="780" b="1">
                <a:solidFill>
                  <a:srgbClr val="D49B28"/>
                </a:solidFill>
                <a:latin typeface="Arial"/>
              </a:rPr>
              <a:t>0.0 μs  </a:t>
            </a:r>
            <a:r>
              <a:rPr sz="780" b="1">
                <a:solidFill>
                  <a:srgbClr val="0B2545"/>
                </a:solidFill>
                <a:latin typeface="Arial"/>
              </a:rPr>
              <a:t>[Initial]</a:t>
            </a:r>
          </a:p>
        </p:txBody>
      </p:sp>
      <p:pic>
        <p:nvPicPr>
          <p:cNvPr id="72" name="Picture 71" descr="copper_f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32536" y="15572232"/>
            <a:ext cx="1828800" cy="137160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3432536" y="16962120"/>
            <a:ext cx="182880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/>
            <a:r>
              <a:rPr sz="780" b="1">
                <a:solidFill>
                  <a:srgbClr val="D49B28"/>
                </a:solidFill>
                <a:latin typeface="Arial"/>
              </a:rPr>
              <a:t>35.0 μs  </a:t>
            </a:r>
            <a:r>
              <a:rPr sz="780" b="1">
                <a:solidFill>
                  <a:srgbClr val="0B2545"/>
                </a:solidFill>
                <a:latin typeface="Arial"/>
              </a:rPr>
              <a:t>[Elastic]</a:t>
            </a:r>
          </a:p>
        </p:txBody>
      </p:sp>
      <p:pic>
        <p:nvPicPr>
          <p:cNvPr id="74" name="Picture 73" descr="copper_f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384780" y="15572232"/>
            <a:ext cx="1828800" cy="13716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5384780" y="16962120"/>
            <a:ext cx="182880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/>
            <a:r>
              <a:rPr sz="780" b="1">
                <a:solidFill>
                  <a:srgbClr val="D49B28"/>
                </a:solidFill>
                <a:latin typeface="Arial"/>
              </a:rPr>
              <a:t>70.0 μs  </a:t>
            </a:r>
            <a:r>
              <a:rPr sz="780" b="1">
                <a:solidFill>
                  <a:srgbClr val="0B2545"/>
                </a:solidFill>
                <a:latin typeface="Arial"/>
              </a:rPr>
              <a:t>[Flow]</a:t>
            </a:r>
          </a:p>
        </p:txBody>
      </p:sp>
      <p:pic>
        <p:nvPicPr>
          <p:cNvPr id="76" name="Picture 75" descr="copper_f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337024" y="15572232"/>
            <a:ext cx="1828800" cy="13716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7337024" y="16962120"/>
            <a:ext cx="182880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/>
            <a:r>
              <a:rPr sz="780" b="1">
                <a:solidFill>
                  <a:srgbClr val="D49B28"/>
                </a:solidFill>
                <a:latin typeface="Arial"/>
              </a:rPr>
              <a:t>105.0 μs  </a:t>
            </a:r>
            <a:r>
              <a:rPr sz="780" b="1">
                <a:solidFill>
                  <a:srgbClr val="0B2545"/>
                </a:solidFill>
                <a:latin typeface="Arial"/>
              </a:rPr>
              <a:t>[Barreling]</a:t>
            </a:r>
          </a:p>
        </p:txBody>
      </p:sp>
      <p:pic>
        <p:nvPicPr>
          <p:cNvPr id="78" name="Picture 77" descr="copper_f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289268" y="15572232"/>
            <a:ext cx="1828800" cy="137160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9289268" y="16962120"/>
            <a:ext cx="1828800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/>
            <a:r>
              <a:rPr sz="780" b="1">
                <a:solidFill>
                  <a:srgbClr val="D49B28"/>
                </a:solidFill>
                <a:latin typeface="Arial"/>
              </a:rPr>
              <a:t>140.0 μs  </a:t>
            </a:r>
            <a:r>
              <a:rPr sz="780" b="1">
                <a:solidFill>
                  <a:srgbClr val="0B2545"/>
                </a:solidFill>
                <a:latin typeface="Arial"/>
              </a:rPr>
              <a:t>[Perm. Set]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356848" y="17556480"/>
            <a:ext cx="9884664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80" b="1">
                <a:solidFill>
                  <a:srgbClr val="D49B28"/>
                </a:solidFill>
                <a:latin typeface="Arial"/>
              </a:rPr>
              <a:t>▪ </a:t>
            </a:r>
            <a:r>
              <a:rPr sz="980" b="1">
                <a:solidFill>
                  <a:srgbClr val="0B2545"/>
                </a:solidFill>
                <a:latin typeface="Arial"/>
              </a:rPr>
              <a:t>Deformation Kinematics: </a:t>
            </a:r>
            <a:r>
              <a:rPr sz="980">
                <a:solidFill>
                  <a:srgbClr val="0F172A"/>
                </a:solidFill>
                <a:latin typeface="Arial"/>
              </a:rPr>
              <a:t>In-situ high-speed sequence captures progressive axial upsetting, uniform radial expansion, and plastic barreling without shear localization.</a:t>
            </a:r>
          </a:p>
          <a:p>
            <a:pPr algn="l">
              <a:spcAft>
                <a:spcPts val="400"/>
              </a:spcAft>
            </a:pPr>
            <a:r>
              <a:rPr sz="1180" b="1">
                <a:solidFill>
                  <a:srgbClr val="D49B28"/>
                </a:solidFill>
                <a:latin typeface="Arial"/>
              </a:rPr>
              <a:t>▪ </a:t>
            </a:r>
            <a:r>
              <a:rPr sz="980" b="1">
                <a:solidFill>
                  <a:srgbClr val="0B2545"/>
                </a:solidFill>
                <a:latin typeface="Arial"/>
              </a:rPr>
              <a:t>Dynamic Contact Uniformity: </a:t>
            </a:r>
            <a:r>
              <a:rPr sz="980">
                <a:solidFill>
                  <a:srgbClr val="0F172A"/>
                </a:solidFill>
                <a:latin typeface="Arial"/>
              </a:rPr>
              <a:t>Sub-microsecond exposure verifies planar platen seating and absence of specimen tilt or reverberating acoustic reflections during wave entry.</a:t>
            </a:r>
          </a:p>
          <a:p>
            <a:pPr algn="l">
              <a:spcAft>
                <a:spcPts val="400"/>
              </a:spcAft>
            </a:pPr>
            <a:r>
              <a:rPr sz="1180" b="1">
                <a:solidFill>
                  <a:srgbClr val="D49B28"/>
                </a:solidFill>
                <a:latin typeface="Arial"/>
              </a:rPr>
              <a:t>▪ </a:t>
            </a:r>
            <a:r>
              <a:rPr sz="980" b="1">
                <a:solidFill>
                  <a:srgbClr val="0B2545"/>
                </a:solidFill>
                <a:latin typeface="Arial"/>
              </a:rPr>
              <a:t>Full-Field Optical Strain Tracking: </a:t>
            </a:r>
            <a:r>
              <a:rPr sz="980">
                <a:solidFill>
                  <a:srgbClr val="0F172A"/>
                </a:solidFill>
                <a:latin typeface="Arial"/>
              </a:rPr>
              <a:t>Synchronous frame recordings enable DIC to cross-validate bar 1D wave reduction against true surface kinematics.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02920" y="20345400"/>
            <a:ext cx="10287000" cy="8412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02920" y="20345400"/>
            <a:ext cx="10287000" cy="5486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02920" y="20894040"/>
            <a:ext cx="10287000" cy="36576"/>
          </a:xfrm>
          <a:prstGeom prst="rect">
            <a:avLst/>
          </a:prstGeom>
          <a:solidFill>
            <a:srgbClr val="D49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20391120"/>
            <a:ext cx="772668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Rate-Dependent Response &amp; Failure Diagnostics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595360" y="20445984"/>
            <a:ext cx="2011680" cy="347472"/>
          </a:xfrm>
          <a:prstGeom prst="round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95360" y="20445984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MATERIAL BEHAVIOR</a:t>
            </a:r>
          </a:p>
        </p:txBody>
      </p:sp>
      <p:pic>
        <p:nvPicPr>
          <p:cNvPr id="87" name="Picture 86" descr="rate_and_damage_composi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4088" y="21031200"/>
            <a:ext cx="9884664" cy="361188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704088" y="24780240"/>
            <a:ext cx="9884664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220" b="1">
                <a:solidFill>
                  <a:srgbClr val="D49B28"/>
                </a:solidFill>
                <a:latin typeface="Arial"/>
              </a:rPr>
              <a:t>▪ </a:t>
            </a:r>
            <a:r>
              <a:rPr sz="1019" b="1">
                <a:solidFill>
                  <a:srgbClr val="0B2545"/>
                </a:solidFill>
                <a:latin typeface="Arial"/>
              </a:rPr>
              <a:t>Extended Constant Strain-Rate Plateau: </a:t>
            </a:r>
            <a:r>
              <a:rPr sz="1019">
                <a:solidFill>
                  <a:srgbClr val="0F172A"/>
                </a:solidFill>
                <a:latin typeface="Arial"/>
              </a:rPr>
              <a:t>Tailored pulse shaping yields a flat strain-rate plateau (ε̇ ≈ 3,400–3,560 s⁻¹), ensuring constitutive data is uncontaminated by transient wave accelerations.</a:t>
            </a:r>
          </a:p>
          <a:p>
            <a:pPr algn="l">
              <a:spcAft>
                <a:spcPts val="550"/>
              </a:spcAft>
            </a:pPr>
            <a:r>
              <a:rPr sz="1220" b="1">
                <a:solidFill>
                  <a:srgbClr val="D49B28"/>
                </a:solidFill>
                <a:latin typeface="Arial"/>
              </a:rPr>
              <a:t>▪ </a:t>
            </a:r>
            <a:r>
              <a:rPr sz="1019" b="1">
                <a:solidFill>
                  <a:srgbClr val="0B2545"/>
                </a:solidFill>
                <a:latin typeface="Arial"/>
              </a:rPr>
              <a:t>Dynamic Yield &amp; Flow Enhancement: </a:t>
            </a:r>
            <a:r>
              <a:rPr sz="1019">
                <a:solidFill>
                  <a:srgbClr val="0F172A"/>
                </a:solidFill>
                <a:latin typeface="Arial"/>
              </a:rPr>
              <a:t>PMMA specimens exhibit distinct rate hardening, elevating flow stress to ~345 MPa at high rates compared to quasi-static yield values (~100 MPa).</a:t>
            </a:r>
          </a:p>
          <a:p>
            <a:pPr algn="l">
              <a:spcAft>
                <a:spcPts val="550"/>
              </a:spcAft>
            </a:pPr>
            <a:r>
              <a:rPr sz="1220" b="1">
                <a:solidFill>
                  <a:srgbClr val="D49B28"/>
                </a:solidFill>
                <a:latin typeface="Arial"/>
              </a:rPr>
              <a:t>▪ </a:t>
            </a:r>
            <a:r>
              <a:rPr sz="1019" b="1">
                <a:solidFill>
                  <a:srgbClr val="0B2545"/>
                </a:solidFill>
                <a:latin typeface="Arial"/>
              </a:rPr>
              <a:t>Micro-Scale Failure Mechanisms: </a:t>
            </a:r>
            <a:r>
              <a:rPr sz="1019">
                <a:solidFill>
                  <a:srgbClr val="0F172A"/>
                </a:solidFill>
                <a:latin typeface="Arial"/>
              </a:rPr>
              <a:t>Post-test SEM imaging reveals transverse fiber shear kinking, matrix crushing, and dynamic spallation at rates &gt;10³ s⁻¹.</a:t>
            </a:r>
          </a:p>
          <a:p>
            <a:pPr algn="l">
              <a:spcAft>
                <a:spcPts val="550"/>
              </a:spcAft>
            </a:pPr>
            <a:r>
              <a:rPr sz="1220" b="1">
                <a:solidFill>
                  <a:srgbClr val="D49B28"/>
                </a:solidFill>
                <a:latin typeface="Arial"/>
              </a:rPr>
              <a:t>▪ </a:t>
            </a:r>
            <a:r>
              <a:rPr sz="1019" b="1">
                <a:solidFill>
                  <a:srgbClr val="0B2545"/>
                </a:solidFill>
                <a:latin typeface="Arial"/>
              </a:rPr>
              <a:t>Symbiotic Digital Twin Feedback: </a:t>
            </a:r>
            <a:r>
              <a:rPr sz="1019">
                <a:solidFill>
                  <a:srgbClr val="0F172A"/>
                </a:solidFill>
                <a:latin typeface="Arial"/>
              </a:rPr>
              <a:t>Experimental flow stress curves and 3D micro-CT damage fields directly inform and calibrate anisotropic plasticity and dynamic failure criteria in LANL penetration simulations.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1155680" y="20345400"/>
            <a:ext cx="10287000" cy="8412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155680" y="20345400"/>
            <a:ext cx="10287000" cy="5486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155680" y="20894040"/>
            <a:ext cx="10287000" cy="36576"/>
          </a:xfrm>
          <a:prstGeom prst="rect">
            <a:avLst/>
          </a:prstGeom>
          <a:solidFill>
            <a:srgbClr val="D49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384280" y="20391120"/>
            <a:ext cx="772668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Future Horizons: Autonomous Kolsky Bar System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9248120" y="20445984"/>
            <a:ext cx="2011680" cy="347472"/>
          </a:xfrm>
          <a:prstGeom prst="roundRect">
            <a:avLst/>
          </a:prstGeom>
          <a:solidFill>
            <a:srgbClr val="D49B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9248120" y="20445984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0B2545"/>
                </a:solidFill>
                <a:latin typeface="Arial"/>
              </a:rPr>
              <a:t>1,000 TESTS / DAY</a:t>
            </a:r>
          </a:p>
        </p:txBody>
      </p:sp>
      <p:pic>
        <p:nvPicPr>
          <p:cNvPr id="95" name="Picture 94" descr="automation_concep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56848" y="21031200"/>
            <a:ext cx="9884664" cy="361188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1356848" y="24780240"/>
            <a:ext cx="9884664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550"/>
              </a:spcAft>
            </a:pPr>
            <a:r>
              <a:rPr sz="1220" b="1">
                <a:solidFill>
                  <a:srgbClr val="D49B28"/>
                </a:solidFill>
                <a:latin typeface="Arial"/>
              </a:rPr>
              <a:t>▪ </a:t>
            </a:r>
            <a:r>
              <a:rPr sz="1019" b="1">
                <a:solidFill>
                  <a:srgbClr val="0B2545"/>
                </a:solidFill>
                <a:latin typeface="Arial"/>
              </a:rPr>
              <a:t>Autonomous 1,000-Tests/Day Throughput: </a:t>
            </a:r>
            <a:r>
              <a:rPr sz="1019">
                <a:solidFill>
                  <a:srgbClr val="0F172A"/>
                </a:solidFill>
                <a:latin typeface="Arial"/>
              </a:rPr>
              <a:t>High-density robotic carousels, automated pick-and-place micro-grippers (±5 μm), and rapid-cycle pulse-shaper cassettes achieve &lt;60 s shot turnaround.</a:t>
            </a:r>
          </a:p>
          <a:p>
            <a:pPr algn="l">
              <a:spcAft>
                <a:spcPts val="550"/>
              </a:spcAft>
            </a:pPr>
            <a:r>
              <a:rPr sz="1220" b="1">
                <a:solidFill>
                  <a:srgbClr val="D49B28"/>
                </a:solidFill>
                <a:latin typeface="Arial"/>
              </a:rPr>
              <a:t>▪ </a:t>
            </a:r>
            <a:r>
              <a:rPr sz="1019" b="1">
                <a:solidFill>
                  <a:srgbClr val="0B2545"/>
                </a:solidFill>
                <a:latin typeface="Arial"/>
              </a:rPr>
              <a:t>Multi-Condition Parametric Testing: </a:t>
            </a:r>
            <a:r>
              <a:rPr sz="1019">
                <a:solidFill>
                  <a:srgbClr val="0F172A"/>
                </a:solidFill>
                <a:latin typeface="Arial"/>
              </a:rPr>
              <a:t>Rapid automated sweeps across wide thermal bounds (−150°C to 800°C), strain rates (10²–10⁴ s⁻¹), and multi-axial stress states (compression, shear, tension).</a:t>
            </a:r>
          </a:p>
          <a:p>
            <a:pPr algn="l">
              <a:spcAft>
                <a:spcPts val="550"/>
              </a:spcAft>
            </a:pPr>
            <a:r>
              <a:rPr sz="1220" b="1">
                <a:solidFill>
                  <a:srgbClr val="D49B28"/>
                </a:solidFill>
                <a:latin typeface="Arial"/>
              </a:rPr>
              <a:t>▪ </a:t>
            </a:r>
            <a:r>
              <a:rPr sz="1019" b="1">
                <a:solidFill>
                  <a:srgbClr val="0B2545"/>
                </a:solidFill>
                <a:latin typeface="Arial"/>
              </a:rPr>
              <a:t>Active Learning Experiment Steering: </a:t>
            </a:r>
            <a:r>
              <a:rPr sz="1019">
                <a:solidFill>
                  <a:srgbClr val="0F172A"/>
                </a:solidFill>
                <a:latin typeface="Arial"/>
              </a:rPr>
              <a:t>Bayesian acquisition algorithms identify high-uncertainty regions in constitutive space, automatically commanding the next test conditions to maximize information gain.</a:t>
            </a:r>
          </a:p>
          <a:p>
            <a:pPr algn="l">
              <a:spcAft>
                <a:spcPts val="550"/>
              </a:spcAft>
            </a:pPr>
            <a:r>
              <a:rPr sz="1220" b="1">
                <a:solidFill>
                  <a:srgbClr val="D49B28"/>
                </a:solidFill>
                <a:latin typeface="Arial"/>
              </a:rPr>
              <a:t>▪ </a:t>
            </a:r>
            <a:r>
              <a:rPr sz="1019" b="1">
                <a:solidFill>
                  <a:srgbClr val="0B2545"/>
                </a:solidFill>
                <a:latin typeface="Arial"/>
              </a:rPr>
              <a:t>Automated Rate-Dependent Model Discovery: </a:t>
            </a:r>
            <a:r>
              <a:rPr sz="1019">
                <a:solidFill>
                  <a:srgbClr val="0F172A"/>
                </a:solidFill>
                <a:latin typeface="Arial"/>
              </a:rPr>
              <a:t>Synchronized 10 MHz DAQ and DIC feed into automated inverse FE solvers, auto-calibrating Johnson-Cook and damage models for direct LANL hydrocode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